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A0D0"/>
                </a:solidFill>
                <a:latin typeface="Arial"/>
              </a:defRPr>
            </a:pPr>
            <a:r>
              <a:t>ECDA Early Childhood Innovation Sandbox 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Arial"/>
              </a:defRPr>
            </a:pPr>
            <a:r>
              <a:t>PedaForge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C8B8E0"/>
                </a:solidFill>
                <a:latin typeface="Arial"/>
              </a:defRPr>
            </a:pPr>
            <a:r>
              <a:t>AI-Powered Pedagogical Development Platform</a:t>
            </a:r>
            <a:br/>
            <a:r>
              <a:t>for Singapore Early Childhood Education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A0D0"/>
                </a:solidFill>
                <a:latin typeface="Arial"/>
              </a:defRPr>
            </a:pPr>
            <a:r>
              <a:t>Aligned with ECDA Industry Digital Plan (IDP 2.0)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8B80A8"/>
                </a:solidFill>
                <a:latin typeface="Arial"/>
              </a:defRPr>
            </a:pPr>
            <a:r>
              <a:t>Duration: 12 Months  |  Budget: SGD $21,000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8404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0">
                <a:solidFill>
                  <a:srgbClr val="8B80A8"/>
                </a:solidFill>
                <a:latin typeface="Arial"/>
              </a:defRPr>
            </a:pPr>
            <a:r>
              <a:t>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THE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Singapore's ECE Documentation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Arial"/>
              </a:defRPr>
            </a:pPr>
            <a:r>
              <a:t>Excessive administrative burden is directly harming pedagogical quality and educator retention in the early childhood sector.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Emotional Exhaustion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8063C"/>
                </a:solidFill>
                <a:latin typeface="Arial"/>
              </a:defRPr>
            </a:pPr>
            <a:r>
              <a:t>8 hrs/week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on documentation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Administrative compliance tasks cause severe emotional exhaustion. Educators spend evenings and weekends on paperwork.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Pedagogical Compromise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9E18"/>
                </a:solidFill>
                <a:latin typeface="Arial"/>
              </a:defRPr>
            </a:pPr>
            <a:r>
              <a:t>35% less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interaction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Cognitive overload from multi-framework documentation forces one-size-fits-all planning, reducing individualised learning.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2560320" cy="31089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288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2A5E"/>
                </a:solidFill>
                <a:latin typeface="Arial"/>
              </a:defRPr>
            </a:pPr>
            <a:r>
              <a:t>Siloed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194560"/>
            <a:ext cx="2194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B82F6"/>
                </a:solidFill>
                <a:latin typeface="Arial"/>
              </a:defRPr>
            </a:pPr>
            <a:r>
              <a:t>Zero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Arial"/>
              </a:defRPr>
            </a:pPr>
            <a:r>
              <a:t>real-time visibility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10896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Directors lack data on daily pedagogical quality. Annual appraisals are subjective and disconnected from the Skills Framework.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80060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6B7280"/>
                </a:solidFill>
                <a:latin typeface="Arial"/>
              </a:defRPr>
            </a:pPr>
            <a:r>
              <a:t>Source: OECD TALIS Starting Strong (2024), Early Childhood Research Quarterly (2024)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Four Integrated Modules, One Ecosystem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1. Smart Lesson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AI generates differentiated scaffolding based on classroom learning profiles. Maps to EYDF, NEL, and implements Rehearse &amp; Retrieve scheduling.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E8063C"/>
                </a:solidFill>
                <a:latin typeface="Arial"/>
              </a:defRPr>
            </a:pPr>
            <a:r>
              <a:t>EYDF | NEL | Differentiation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79" y="109728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59" y="11887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2. Portfolio &amp; Profiling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1554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Capture observations and work samples. AI drafts developmental narratives. 'Living Profile' feeds back into lesson planning.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59" y="242316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3B82F6"/>
                </a:solidFill>
                <a:latin typeface="Arial"/>
              </a:defRPr>
            </a:pPr>
            <a:r>
              <a:t>Living Profile | 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1752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3. AI Coaching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Four coaching modes: Reflective Practice, QTT Deep Dive, Socratic Inquiry, Scenario Analysis. Anti-sycophancy directives built 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ECD1B"/>
                </a:solidFill>
                <a:latin typeface="Arial"/>
              </a:defRPr>
            </a:pPr>
            <a:r>
              <a:t>QTT | Skills Framework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79" y="3017520"/>
            <a:ext cx="3840480" cy="173736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37759" y="31089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4. Director Dashboard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347472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Centre-wide QTT averages, educator profiles, PLC collaboration topics, and SFw-aligned professional development recommendations.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59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8B5CF6"/>
                </a:solidFill>
                <a:latin typeface="Arial"/>
              </a:defRPr>
            </a:pPr>
            <a:r>
              <a:t>LNA | SFw | IDP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ECD1B"/>
                </a:solidFill>
                <a:latin typeface="Arial"/>
              </a:defRPr>
            </a:pPr>
            <a:r>
              <a:t>SIGNATURE FEATURE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Arial"/>
              </a:defRPr>
            </a:pPr>
            <a:r>
              <a:t>AI Coaching Engine: Four Modes, One Growth Journey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Reflective Practice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Gibbs' Reflective Cycle</a:t>
            </a:r>
            <a:br/>
            <a:br/>
            <a:r>
              <a:t>Gentle, structured reflection on daily teaching episodes.</a:t>
            </a:r>
            <a:br/>
            <a:br/>
            <a:r>
              <a:t>Best for: Daily reflection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2588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3736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Supportive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176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QTT Deep Dive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ECDA Quality Teaching Tool</a:t>
            </a:r>
            <a:br/>
            <a:br/>
            <a:r>
              <a:t>Targeted coaching aligned to specific QTT rubric domains.</a:t>
            </a:r>
            <a:br/>
            <a:br/>
            <a:r>
              <a:t>Best for: Improvement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06324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8620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5176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Focused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6344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0060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Socratic Inquiry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Six question types</a:t>
            </a:r>
            <a:br/>
            <a:br/>
            <a:r>
              <a:t>Probing questions that surface hidden pedagogical assumptions.</a:t>
            </a:r>
            <a:br/>
            <a:br/>
            <a:r>
              <a:t>Best for: Assumptions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80060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21208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62356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3200400"/>
            <a:ext cx="320040" cy="73152"/>
          </a:xfrm>
          <a:prstGeom prst="rect">
            <a:avLst/>
          </a:prstGeom>
          <a:solidFill>
            <a:srgbClr val="3A3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060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Challenging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188720"/>
            <a:ext cx="1965960" cy="2560320"/>
          </a:xfrm>
          <a:prstGeom prst="rect">
            <a:avLst/>
          </a:prstGeom>
          <a:solidFill>
            <a:srgbClr val="3D266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0" y="1280160"/>
            <a:ext cx="1691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Arial"/>
              </a:defRPr>
            </a:pPr>
            <a:r>
              <a:t>Scenario Analysis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1645920"/>
            <a:ext cx="1691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A0C8"/>
                </a:solidFill>
                <a:latin typeface="Arial"/>
              </a:defRPr>
            </a:pPr>
            <a:r>
              <a:t>Gary Klein Pre-Mortem</a:t>
            </a:r>
            <a:br/>
            <a:br/>
            <a:r>
              <a:t>Stress-test lesson plans before classroom execution.</a:t>
            </a:r>
            <a:br/>
            <a:br/>
            <a:r>
              <a:t>Best for: Preparation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6092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7240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83880" y="3200400"/>
            <a:ext cx="320040" cy="73152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49440" y="3337560"/>
            <a:ext cx="1691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8A0D0"/>
                </a:solidFill>
                <a:latin typeface="Arial"/>
              </a:defRPr>
            </a:pPr>
            <a:r>
              <a:t>Rigorous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931920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Anti-sycophancy: No reflexive validation, specific earned praise only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187952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Safety guardrails: Auto de-escalation on distress signals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4443983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QTT tagging: Every coaching response tagged to QTT domains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4700016"/>
            <a:ext cx="8046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8A0D0"/>
                </a:solidFill>
                <a:latin typeface="Arial"/>
              </a:defRPr>
            </a:pPr>
            <a:r>
              <a:t>  Referral pathway: 'Speak to a Real Coach' at any time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The PedaForge Synergistic Ecosystem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188720"/>
            <a:ext cx="822960" cy="82296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Observe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captures</a:t>
            </a:r>
            <a:br/>
            <a:r>
              <a:t>observations, work</a:t>
            </a:r>
            <a:br/>
            <a:r>
              <a:t>samples, anecdotes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0" name="Oval 9"/>
          <p:cNvSpPr/>
          <p:nvPr/>
        </p:nvSpPr>
        <p:spPr>
          <a:xfrm>
            <a:off x="1984248" y="1188720"/>
            <a:ext cx="822960" cy="8229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4248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Profile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builds Living</a:t>
            </a:r>
            <a:br/>
            <a:r>
              <a:t>Profile: strengths,</a:t>
            </a:r>
            <a:br/>
            <a:r>
              <a:t>needs, ZPD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15" name="Oval 14"/>
          <p:cNvSpPr/>
          <p:nvPr/>
        </p:nvSpPr>
        <p:spPr>
          <a:xfrm>
            <a:off x="3419856" y="1188720"/>
            <a:ext cx="822960" cy="8229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5536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45536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generates</a:t>
            </a:r>
            <a:br/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4855464" y="1188720"/>
            <a:ext cx="822960" cy="822960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55464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4.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Teach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delivers</a:t>
            </a:r>
            <a:br/>
            <a:r>
              <a:t>with scaffolding</a:t>
            </a:r>
            <a:br/>
            <a:r>
              <a:t>strategies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9864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25" name="Oval 24"/>
          <p:cNvSpPr/>
          <p:nvPr/>
        </p:nvSpPr>
        <p:spPr>
          <a:xfrm>
            <a:off x="6291072" y="1188720"/>
            <a:ext cx="822960" cy="82296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5.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16752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Reflect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16752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AI Coach guides</a:t>
            </a:r>
            <a:br/>
            <a:r>
              <a:t>pedagogical</a:t>
            </a:r>
            <a:br/>
            <a:r>
              <a:t>reflection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05472" y="14173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6B7280"/>
                </a:solidFill>
                <a:latin typeface="Arial"/>
              </a:defRPr>
            </a:pPr>
            <a:r>
              <a:t>→</a:t>
            </a:r>
          </a:p>
        </p:txBody>
      </p:sp>
      <p:sp>
        <p:nvSpPr>
          <p:cNvPr id="30" name="Oval 29"/>
          <p:cNvSpPr/>
          <p:nvPr/>
        </p:nvSpPr>
        <p:spPr>
          <a:xfrm>
            <a:off x="7726680" y="1188720"/>
            <a:ext cx="822960" cy="8229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1325880"/>
            <a:ext cx="822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rial"/>
              </a:defRPr>
            </a:pPr>
            <a:r>
              <a:t>6.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2148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Grow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2360" y="2423160"/>
            <a:ext cx="1371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Director sees</a:t>
            </a:r>
            <a:br/>
            <a:r>
              <a:t>insights, assigns</a:t>
            </a:r>
            <a:br/>
            <a:r>
              <a:t>targeted PD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566160"/>
            <a:ext cx="8046720" cy="64008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36118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Continuous Feedback Loop: Portfolio observations drive lesson planning → Lesson execution feeds coaching reflections → Coaching insights inform director's PD decisions → Growth targets cycle back to observations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389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063C"/>
                </a:solidFill>
                <a:latin typeface="Arial"/>
              </a:defRPr>
            </a:pPr>
            <a:r>
              <a:t>Children's Learning Outcomes + Educator Professional Growth = Quality ECE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TECHNICAL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Enterprise-Grade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51560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9728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Frontend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0972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React / Next.js, TypeScript, TailwindCSS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81912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62763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Python 3.11+, FastAPI, Uvicorn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12263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157983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AI 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157983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Claude Haiku 4.5 via Azure AI Foundry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42615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2688335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Database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688335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PostgreSQL (children, plans, portfolios)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72968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21868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Auth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218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JWT + bcrypt, RBAC (educator / director / admin)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03320"/>
            <a:ext cx="3840480" cy="438912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74904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D2A5E"/>
                </a:solidFill>
                <a:latin typeface="Arial"/>
              </a:defRPr>
            </a:pPr>
            <a:r>
              <a:t>Hosting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7490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Azure App Service (SG region), Key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1051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Data Privacy &amp; Compliance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146304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PDPA Compliant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166420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Zero public AI training; child data never used for model 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10312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SG Data Residency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230428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All data hosted in Singapore Azure region (southeastasia)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274320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Role-Based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294436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Educators see only assigned cohorts; Directors get aggregated centre 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383279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Encryption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3584447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AES-256 at rest, TLS 1.2+ in transit, Key Vault for secrets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37760" y="4023360"/>
            <a:ext cx="3840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4224528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All actions logged with user ID and timestamp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IMPACT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Measurable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063C"/>
                </a:solidFill>
                <a:latin typeface="Arial"/>
              </a:defRPr>
            </a:pPr>
            <a: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Documentation</a:t>
            </a:r>
            <a:br/>
            <a:r>
              <a:t>Time Saved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8 hrs to 3 hrs/week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3B82F6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Differentiated</a:t>
            </a:r>
            <a:br/>
            <a:r>
              <a:t>Lesson Plans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2+ profiles per plan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12344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10B981"/>
                </a:solidFill>
                <a:latin typeface="Arial"/>
              </a:defRPr>
            </a:pPr>
            <a: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8745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IDP Accuracy</a:t>
            </a:r>
            <a:br/>
            <a:r>
              <a:t>Rating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3317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Educator agreement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ECD1B"/>
                </a:solidFill>
                <a:latin typeface="Arial"/>
              </a:defRPr>
            </a:pPr>
            <a:r>
              <a:t>2x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Weekly Coaching</a:t>
            </a:r>
            <a:br/>
            <a:r>
              <a:t>Cycles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Per educator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328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B5CF6"/>
                </a:solidFill>
                <a:latin typeface="Arial"/>
              </a:defRPr>
            </a:pPr>
            <a:r>
              <a:t>+0.5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QTT Score</a:t>
            </a:r>
            <a:br/>
            <a:r>
              <a:t>Improvement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Centre average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0" y="30632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063C"/>
                </a:solidFill>
                <a:latin typeface="Arial"/>
              </a:defRPr>
            </a:pPr>
            <a:r>
              <a:t>90%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70332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Educator</a:t>
            </a:r>
            <a:br/>
            <a:r>
              <a:t>Retention Intent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17920" y="4160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Arial"/>
              </a:defRPr>
            </a:pPr>
            <a:r>
              <a:t>Would continue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12-MONTH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Sandbox Implementation Timeline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804672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292608" cy="292608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8063C"/>
                </a:solidFill>
                <a:latin typeface="Arial"/>
              </a:defRPr>
            </a:pPr>
            <a:r>
              <a:t>Months 1–3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Development &amp;</a:t>
            </a:r>
            <a:br/>
            <a:r>
              <a:t>AI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Azure infrastructure,</a:t>
            </a:r>
            <a:br/>
            <a:r>
              <a:t>core modules, AI prompts</a:t>
            </a:r>
          </a:p>
        </p:txBody>
      </p:sp>
      <p:sp>
        <p:nvSpPr>
          <p:cNvPr id="10" name="Oval 9"/>
          <p:cNvSpPr/>
          <p:nvPr/>
        </p:nvSpPr>
        <p:spPr>
          <a:xfrm>
            <a:off x="2331720" y="1554480"/>
            <a:ext cx="292608" cy="29260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8308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Months 4–5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Pilot Deployment</a:t>
            </a:r>
            <a:br/>
            <a:r>
              <a:t>&amp; Onboarding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2–3 centres onboarded,</a:t>
            </a:r>
            <a:br/>
            <a:r>
              <a:t>educator workshops</a:t>
            </a:r>
          </a:p>
        </p:txBody>
      </p:sp>
      <p:sp>
        <p:nvSpPr>
          <p:cNvPr id="14" name="Oval 13"/>
          <p:cNvSpPr/>
          <p:nvPr/>
        </p:nvSpPr>
        <p:spPr>
          <a:xfrm>
            <a:off x="3749040" y="1554480"/>
            <a:ext cx="292608" cy="292608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ECD1B"/>
                </a:solidFill>
                <a:latin typeface="Arial"/>
              </a:defRPr>
            </a:pPr>
            <a:r>
              <a:t>Months 6–9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Active Usage</a:t>
            </a:r>
            <a:br/>
            <a:r>
              <a:t>&amp; Iteration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Live classroom usage,</a:t>
            </a:r>
            <a:br/>
            <a:r>
              <a:t>IDPs, AI coaching</a:t>
            </a:r>
          </a:p>
        </p:txBody>
      </p:sp>
      <p:sp>
        <p:nvSpPr>
          <p:cNvPr id="18" name="Oval 17"/>
          <p:cNvSpPr/>
          <p:nvPr/>
        </p:nvSpPr>
        <p:spPr>
          <a:xfrm>
            <a:off x="5166360" y="1554480"/>
            <a:ext cx="292608" cy="292608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1143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E8063C"/>
                </a:solidFill>
                <a:latin typeface="Arial"/>
              </a:defRPr>
            </a:pPr>
            <a:r>
              <a:t>Months 10–12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20116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D2A5E"/>
                </a:solidFill>
                <a:latin typeface="Arial"/>
              </a:defRPr>
            </a:pPr>
            <a:r>
              <a:t>Assessment</a:t>
            </a:r>
            <a:br/>
            <a:r>
              <a:t>&amp; Scaling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256032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Impact report, ECDA</a:t>
            </a:r>
            <a:br/>
            <a:r>
              <a:t>presentation, scale plan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D2A5E"/>
                </a:solidFill>
                <a:latin typeface="Arial"/>
              </a:defRPr>
            </a:pPr>
            <a:r>
              <a:t>Key Milestones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8862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3: AI prompts validated against QTT rubric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142232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5: First educators onboarded with training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398264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9: First SFw-aligned IDPs auto-generated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654296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✓  Month 12: Final impact report to ECDA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Budget Breakdown (SGD)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188720"/>
            <a:ext cx="2564892" cy="502920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618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Development &amp; Infrastructure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2618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$10,800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2618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51%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74519"/>
            <a:ext cx="75438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947671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Security &amp; Compliance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0" y="1947671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$3,200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1947671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15%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5603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560320"/>
            <a:ext cx="1056132" cy="502920"/>
          </a:xfrm>
          <a:prstGeom prst="rect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6334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Change Management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26334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$4,400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6334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21%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5029200" cy="502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246120"/>
            <a:ext cx="653796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3192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Arial"/>
              </a:defRPr>
            </a:pPr>
            <a:r>
              <a:t>Evaluation &amp; Reporting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20" y="331927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2D2A5E"/>
                </a:solidFill>
                <a:latin typeface="Arial"/>
              </a:defRPr>
            </a:pPr>
            <a:r>
              <a:t>$2,600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33192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Arial"/>
              </a:defRPr>
            </a:pPr>
            <a:r>
              <a:t>13%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023360"/>
            <a:ext cx="7498079" cy="548640"/>
          </a:xfrm>
          <a:prstGeom prst="rect">
            <a:avLst/>
          </a:prstGeom>
          <a:solidFill>
            <a:srgbClr val="2D2A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069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Total Sandbox Funding Required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4069080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1">
                <a:solidFill>
                  <a:srgbClr val="FECD1B"/>
                </a:solidFill>
                <a:latin typeface="Arial"/>
              </a:defRPr>
            </a:pPr>
            <a:r>
              <a:t>SGD $21,000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Full-Stack + AI Dev: $500/day x 16 days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Azure Hosting: $150/month x 12 months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Claude Haiku via Azure AI Foundry: $85/month x 12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663440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PDPA + Security: $3,200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864608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Pedagogical Consultant: $600/day x 4 days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63440" y="5065776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Educator Workshops: $2,000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5266944"/>
            <a:ext cx="3840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Arial"/>
              </a:defRPr>
            </a:pPr>
            <a:r>
              <a:t>Evaluation + Reporting: $2,600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THE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Cross-Disciplinary Expertise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8760" y="1234440"/>
            <a:ext cx="640080" cy="640080"/>
          </a:xfrm>
          <a:prstGeom prst="ellipse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Project Lead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E8063C"/>
                </a:solidFill>
                <a:latin typeface="Arial"/>
              </a:defRPr>
            </a:pPr>
            <a:r>
              <a:t>0.3 FTE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Timeline, budget, stakeholder liaison,</a:t>
            </a:r>
            <a:br/>
            <a:r>
              <a:t>ECDA comms, evaluation &amp; reporting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343400" y="1234440"/>
            <a:ext cx="640080" cy="6400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Technical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3B82F6"/>
                </a:solidFill>
                <a:latin typeface="Arial"/>
              </a:defRPr>
            </a:pPr>
            <a:r>
              <a:t>1.0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Full-stack development, AI integration</a:t>
            </a:r>
            <a:br/>
            <a:r>
              <a:t>via Azure AI Foundry, deployment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178040" y="1234440"/>
            <a:ext cx="640080" cy="640080"/>
          </a:xfrm>
          <a:prstGeom prst="ellipse">
            <a:avLst/>
          </a:prstGeom>
          <a:solidFill>
            <a:srgbClr val="FECD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920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D2A5E"/>
                </a:solidFill>
                <a:latin typeface="Arial"/>
              </a:defRPr>
            </a:pPr>
            <a:r>
              <a:t>Pedagogical Specialist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488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ECD1B"/>
                </a:solidFill>
                <a:latin typeface="Arial"/>
              </a:defRPr>
            </a:pPr>
            <a:r>
              <a:t>0.2 FTE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33172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Arial"/>
              </a:defRPr>
            </a:pPr>
            <a:r>
              <a:t>EYDF, NEL, QTT, SFw validation,</a:t>
            </a:r>
            <a:br/>
            <a:r>
              <a:t>educator training facilitation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E8063C"/>
                </a:solidFill>
                <a:latin typeface="Arial"/>
              </a:defRPr>
            </a:pPr>
            <a:r>
              <a:t>ALIGNMENT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572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D2A5E"/>
                </a:solidFill>
                <a:latin typeface="Arial"/>
              </a:defRPr>
            </a:pPr>
            <a:r>
              <a:t>Grounded in Singapore's ECE Frameworks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ECDA IDP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063C"/>
                </a:solidFill>
                <a:latin typeface="Arial"/>
              </a:defRPr>
            </a:pPr>
            <a:r>
              <a:t>Strategic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Direct alignment with Early Childhood Innovation Sandbox objectives. AI-enabled solution for sector-wide transformation.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EYDF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3B82F6"/>
                </a:solidFill>
                <a:latin typeface="Arial"/>
              </a:defRPr>
            </a:pPr>
            <a:r>
              <a:t>Curriculum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Early Years Development Framework. All learning outcomes mapped and tagged in lesson plans and portfolios.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0972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1887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5087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0B981"/>
                </a:solidFill>
                <a:latin typeface="Arial"/>
              </a:defRPr>
            </a:pPr>
            <a:r>
              <a:t>Learning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Nurturing Early Learners. Activity design and assessment indicators aligned to NEL learning areas.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ECDA QTT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ECD1B"/>
                </a:solidFill>
                <a:latin typeface="Arial"/>
              </a:defRPr>
            </a:pPr>
            <a:r>
              <a:t>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Quality Teaching Tool. Coaching engine built around QTT rubric domains. Director dashboard tracks QTT scores.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6616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SFw for ECCE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8B5CF6"/>
                </a:solidFill>
                <a:latin typeface="Arial"/>
              </a:defRPr>
            </a:pPr>
            <a:r>
              <a:t>Growth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Skills Framework for Early Childhood. Professional development mapped to TSC codes. WSQ course recommendations.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2560320" cy="1645920"/>
          </a:xfrm>
          <a:prstGeom prst="rect">
            <a:avLst/>
          </a:prstGeom>
          <a:solidFill>
            <a:srgbClr val="FAF6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017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D2A5E"/>
                </a:solidFill>
                <a:latin typeface="Arial"/>
              </a:defRPr>
            </a:pPr>
            <a:r>
              <a:t>PDPA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3756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8063C"/>
                </a:solidFill>
                <a:latin typeface="Arial"/>
              </a:defRPr>
            </a:pPr>
            <a:r>
              <a:t>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11880"/>
            <a:ext cx="2194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Arial"/>
              </a:defRPr>
            </a:pPr>
            <a:r>
              <a:t>Personal Data Protection Act. Zero public AI training. SG data residency. RBAC. Encrypted storage.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2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1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Arial"/>
              </a:defRPr>
            </a:pPr>
            <a:r>
              <a:t>PedaForge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8B8E0"/>
                </a:solidFill>
                <a:latin typeface="Arial"/>
              </a:defRPr>
            </a:pPr>
            <a:r>
              <a:t>Give educators back the time that matters most.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60% reduction in documentation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889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AI coaching aligned to ECDA Quality Teaching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108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Profile-driven differentiated lesson planning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429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B8A0D0"/>
                </a:solidFill>
                <a:latin typeface="Arial"/>
              </a:defRPr>
            </a:pPr>
            <a:r>
              <a:t>✓  Real-time director insights for targeted professional development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3840480"/>
            <a:ext cx="3657600" cy="457200"/>
          </a:xfrm>
          <a:prstGeom prst="rect">
            <a:avLst/>
          </a:prstGeom>
          <a:solidFill>
            <a:srgbClr val="E80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3858768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SGD $21,000  |  12 Months  |  IDP 2.0 Aligned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