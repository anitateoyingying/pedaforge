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AACC"/>
                </a:solidFill>
                <a:latin typeface="Calibri"/>
              </a:defRPr>
            </a:pPr>
            <a:r>
              <a:t>ECDA Innovation Seed Fund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PedaForge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CCDD"/>
                </a:solidFill>
                <a:latin typeface="Calibri"/>
              </a:defRPr>
            </a:pPr>
            <a:r>
              <a:t>AI-Powered Pedagogical Development Platform</a:t>
            </a:r>
            <a:br/>
            <a:r>
              <a:t>for Singapore Early Childhood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AACC"/>
                </a:solidFill>
                <a:latin typeface="Calibri"/>
              </a:defRPr>
            </a:pPr>
            <a:r>
              <a:t>Aligned with ECDA Industry Digital Plan (IDP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8AAA"/>
                </a:solidFill>
                <a:latin typeface="Calibri"/>
              </a:defRPr>
            </a:pPr>
            <a:r>
              <a:t>Duration: 12 Months  |  Budget: SGD $125,000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8AAA"/>
                </a:solidFill>
                <a:latin typeface="Calibri"/>
              </a:defRPr>
            </a:pPr>
            <a: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Singapore's ECE Documentation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Excessive administrative burden is directly harming pedagogical quality and educator retention in the early childhood sector.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2560320" cy="31089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5603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  <a:latin typeface="Calibri"/>
              </a:defRPr>
            </a:pPr>
            <a:r>
              <a:t>Emotional Exhaustion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F4444"/>
                </a:solidFill>
                <a:latin typeface="Calibri"/>
              </a:defRPr>
            </a:pPr>
            <a:r>
              <a:t>8 hrs/week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on 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Administrative compliance tasks cause severe emotional exhaustion. Educators spend evenings and weekends on paperwork.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645920"/>
            <a:ext cx="2560320" cy="31089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645920"/>
            <a:ext cx="2560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  <a:latin typeface="Calibri"/>
              </a:defRPr>
            </a:pPr>
            <a:r>
              <a:t>Pedagogical Compromise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59E0B"/>
                </a:solidFill>
                <a:latin typeface="Calibri"/>
              </a:defRPr>
            </a:pPr>
            <a:r>
              <a:t>35% 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interaction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Cognitive overload from multi-framework documentation forces one-size-fits-all planning, reducing individualized learning.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645920"/>
            <a:ext cx="2560320" cy="31089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645920"/>
            <a:ext cx="25603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  <a:latin typeface="Calibri"/>
              </a:defRPr>
            </a:pPr>
            <a:r>
              <a:t>Siloed Leadership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B82F6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real-time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Directors lack data on daily pedagogical quality. Annual appraisals are subjective and disconnected from the Skills Framework.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Source: OECD TALIS Starting Strong (2024), Early Childhood Research Quarterly (2024)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Four Integrated Modules, One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840480" cy="17373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54864" cy="173736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1. Smart Lesson Planner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AI generates differentiated scaffolding based on classroom learning profiles. Maps to EYDF, NEL, and implements Rehearse &amp; Retrieve scheduling.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E7C6B"/>
                </a:solidFill>
                <a:latin typeface="Calibri"/>
              </a:defRPr>
            </a:pPr>
            <a:r>
              <a:t>EYDF | NEL | Differentiation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79" y="1097280"/>
            <a:ext cx="3840480" cy="17373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79" y="1097280"/>
            <a:ext cx="54864" cy="1737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2. Portfolio &amp; Profiling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Capture observations and work samples. AI drafts developmental narratives. 'Living Profile' feeds back into lesson planning.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B82F6"/>
                </a:solidFill>
                <a:latin typeface="Calibri"/>
              </a:defRPr>
            </a:pPr>
            <a:r>
              <a:t>Living Profile | Assessment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17520"/>
            <a:ext cx="3840480" cy="17373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54864" cy="1737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3. AI Coaching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Four coaching modes: Reflective Practice, QTT Deep Dive, Socratic Inquiry, Scenario Analysis. Anti-sycophancy directives built 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0A500"/>
                </a:solidFill>
                <a:latin typeface="Calibri"/>
              </a:defRPr>
            </a:pPr>
            <a:r>
              <a:t>QTT | Skills Framework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79" y="3017520"/>
            <a:ext cx="3840480" cy="17373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79" y="3017520"/>
            <a:ext cx="54864" cy="17373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4. Director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Center-wide QTT averages, educator profiles, PLC collaboration topics, and SFw-aligned professional development recommendations.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59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LNA | SFw | IDP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0A500"/>
                </a:solidFill>
                <a:latin typeface="Calibri"/>
              </a:defRPr>
            </a:pPr>
            <a:r>
              <a:t>SIGNATURE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AI Coaching Engine: Four Modes, One Growth Journey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965960" cy="2560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Reflective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Gibbs' Reflective Cycle</a:t>
            </a:r>
            <a:br/>
            <a:br/>
            <a:r>
              <a:t>Gentle, structured reflection on daily teaching episodes.</a:t>
            </a:r>
            <a:br/>
            <a:br/>
            <a:r>
              <a:t>Best for: Daily reflection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00400"/>
            <a:ext cx="320040" cy="73152"/>
          </a:xfrm>
          <a:prstGeom prst="rect">
            <a:avLst/>
          </a:prstGeom>
          <a:solidFill>
            <a:srgbClr val="2A4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25880" y="3200400"/>
            <a:ext cx="320040" cy="73152"/>
          </a:xfrm>
          <a:prstGeom prst="rect">
            <a:avLst/>
          </a:prstGeom>
          <a:solidFill>
            <a:srgbClr val="2A4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37360" y="3200400"/>
            <a:ext cx="320040" cy="73152"/>
          </a:xfrm>
          <a:prstGeom prst="rect">
            <a:avLst/>
          </a:prstGeom>
          <a:solidFill>
            <a:srgbClr val="2A4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BAACC"/>
                </a:solidFill>
                <a:latin typeface="Calibri"/>
              </a:defRPr>
            </a:pPr>
            <a:r>
              <a:t>Supportive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188720"/>
            <a:ext cx="1965960" cy="2560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QTT Deep Dive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ECDA Quality Teaching Tool</a:t>
            </a:r>
            <a:br/>
            <a:br/>
            <a:r>
              <a:t>Targeted coaching aligned to specific QTT rubric domains.</a:t>
            </a:r>
            <a:br/>
            <a:br/>
            <a:r>
              <a:t>Best for: Improvement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6324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3200400"/>
            <a:ext cx="320040" cy="73152"/>
          </a:xfrm>
          <a:prstGeom prst="rect">
            <a:avLst/>
          </a:prstGeom>
          <a:solidFill>
            <a:srgbClr val="2A4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86200" y="3200400"/>
            <a:ext cx="320040" cy="73152"/>
          </a:xfrm>
          <a:prstGeom prst="rect">
            <a:avLst/>
          </a:prstGeom>
          <a:solidFill>
            <a:srgbClr val="2A4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BAACC"/>
                </a:solidFill>
                <a:latin typeface="Calibri"/>
              </a:defRPr>
            </a:pPr>
            <a:r>
              <a:t>Focused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188720"/>
            <a:ext cx="1965960" cy="2560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Socratic Inquiry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Six question types</a:t>
            </a:r>
            <a:br/>
            <a:br/>
            <a:r>
              <a:t>Probing questions that surface hidden pedagogical assumptions.</a:t>
            </a:r>
            <a:br/>
            <a:br/>
            <a:r>
              <a:t>Best for: Assumptions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1208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2356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3200400"/>
            <a:ext cx="320040" cy="73152"/>
          </a:xfrm>
          <a:prstGeom prst="rect">
            <a:avLst/>
          </a:prstGeom>
          <a:solidFill>
            <a:srgbClr val="2A4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BAACC"/>
                </a:solidFill>
                <a:latin typeface="Calibri"/>
              </a:defRPr>
            </a:pPr>
            <a:r>
              <a:t>Challenging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188720"/>
            <a:ext cx="1965960" cy="2560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Scenario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Gary Klein Pre-Mortem</a:t>
            </a:r>
            <a:br/>
            <a:br/>
            <a:r>
              <a:t>Stress-test lesson plans before classroom execution.</a:t>
            </a:r>
            <a:br/>
            <a:br/>
            <a:r>
              <a:t>Best for: Preparation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80" y="3200400"/>
            <a:ext cx="32004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BAACC"/>
                </a:solidFill>
                <a:latin typeface="Calibri"/>
              </a:defRPr>
            </a:pPr>
            <a:r>
              <a:t>Rigorous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93192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AACC"/>
                </a:solidFill>
                <a:latin typeface="Calibri"/>
              </a:defRPr>
            </a:pPr>
            <a:r>
              <a:t>  Anti-sycophancy: No reflexive validation, specific earned praise only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187952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AACC"/>
                </a:solidFill>
                <a:latin typeface="Calibri"/>
              </a:defRPr>
            </a:pPr>
            <a:r>
              <a:t>  Safety guardrails: Auto de-escalation on distress 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443983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AACC"/>
                </a:solidFill>
                <a:latin typeface="Calibri"/>
              </a:defRPr>
            </a:pPr>
            <a:r>
              <a:t>  QTT tagging: Every coaching response tagged to QTT domains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700016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AACC"/>
                </a:solidFill>
                <a:latin typeface="Calibri"/>
              </a:defRPr>
            </a:pPr>
            <a:r>
              <a:t>  Referral pathway: 'Speak to a Real Coach' at any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The PedaForge Synergistic Ecosystem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822960" cy="822960"/>
          </a:xfrm>
          <a:prstGeom prst="ellipse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Observe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Educator captures</a:t>
            </a:r>
            <a:br/>
            <a:r>
              <a:t>observations, work</a:t>
            </a:r>
            <a:br/>
            <a:r>
              <a:t>samples, anecdotes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1984248" y="118872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4248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AI builds Living</a:t>
            </a:r>
            <a:br/>
            <a:r>
              <a:t>Profile: strengths,</a:t>
            </a:r>
            <a:br/>
            <a:r>
              <a:t>needs, ZPD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3419856" y="1188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6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AI generates</a:t>
            </a:r>
            <a:br/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4855464" y="1188720"/>
            <a:ext cx="822960" cy="82296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Teach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Educator delivers</a:t>
            </a:r>
            <a:br/>
            <a:r>
              <a:t>with scaffolding</a:t>
            </a:r>
            <a:br/>
            <a:r>
              <a:t>strategies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9864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6291072" y="1188720"/>
            <a:ext cx="822960" cy="8229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Reflect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6752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AI Coach guides</a:t>
            </a:r>
            <a:br/>
            <a:r>
              <a:t>pedagogical</a:t>
            </a:r>
            <a:br/>
            <a:r>
              <a:t>reflection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7726680" y="118872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Grow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Director sees</a:t>
            </a:r>
            <a:br/>
            <a:r>
              <a:t>insights, assigns</a:t>
            </a:r>
            <a:br/>
            <a:r>
              <a:t>targeted PD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566160"/>
            <a:ext cx="8046720" cy="6400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118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Continuous Feedback Loop: Portfolio observations drive lesson planning → Lesson execution feeds coaching reflections → Coaching insights inform director's PD decisions → Growth targets cycle back to observations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389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E7C6B"/>
                </a:solidFill>
                <a:latin typeface="Calibri"/>
              </a:defRPr>
            </a:pPr>
            <a:r>
              <a:t>Children's Learning Outcomes + Educator Professional Growth = Quality ECE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TECHNICAL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Enterprise-Grade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3840480" cy="43891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54864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React / Next.js, TypeScript, TailwindCSS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81912"/>
            <a:ext cx="3840480" cy="43891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81912"/>
            <a:ext cx="54864" cy="43891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627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Python 3.11+, FastAPI, Uvicorn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12263"/>
            <a:ext cx="3840480" cy="43891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112263"/>
            <a:ext cx="54864" cy="43891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157983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  <a:latin typeface="Calibri"/>
              </a:defRPr>
            </a:pPr>
            <a:r>
              <a:t>AI /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15798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Claude Opus 4 via Azure AI Foundry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5"/>
            <a:ext cx="3840480" cy="43891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642615"/>
            <a:ext cx="54864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88335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68833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PostgreSQL (children, plans, portfolios)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172968"/>
            <a:ext cx="3840480" cy="43891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172968"/>
            <a:ext cx="54864" cy="43891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186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  <a:latin typeface="Calibri"/>
              </a:defRPr>
            </a:pPr>
            <a:r>
              <a:t>Auth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218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JWT + bcrypt, RBAC (educator / director / admin)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703320"/>
            <a:ext cx="3840480" cy="43891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703320"/>
            <a:ext cx="54864" cy="43891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749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  <a:latin typeface="Calibri"/>
              </a:defRPr>
            </a:pPr>
            <a:r>
              <a:t>Hosting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Azure App Service (SG region), Key Vault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1051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Data Privacy &amp;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14630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PDPA Compliant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16642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Zero public AI training; child data never used for model training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21031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SG Data Residency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23042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All data hosted in Singapore Azure region (southeastasia)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7432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Role-Based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29443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Educators see only assigned cohorts; Directors get aggregated center 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3383279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Encryption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3584447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AES-256 at rest, TLS 1.2+ in transit, Key Vault for secrets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402336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Audit Trail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42245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All actions logged with user ID and timestamp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IMPACT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Measurable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7C6B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Documentation</a:t>
            </a:r>
            <a:br/>
            <a:r>
              <a:t>Time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8 hrs to 3 hrs/week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B82F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2+ profiles per 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IDP Accuracy</a:t>
            </a:r>
            <a:br/>
            <a:r>
              <a:t>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Educator 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0A500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Weekly Coaching</a:t>
            </a:r>
            <a:br/>
            <a:r>
              <a:t>Cycles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Per educator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Calibri"/>
              </a:defRPr>
            </a:pPr>
            <a:r>
              <a:t>+0.5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QTT Score</a:t>
            </a:r>
            <a:br/>
            <a:r>
              <a:t>Improvement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Center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F4444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Educator</a:t>
            </a:r>
            <a:br/>
            <a:r>
              <a:t>Retention 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Would continue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12-MONTH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Sandbox Implementation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80467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292608" cy="292608"/>
          </a:xfrm>
          <a:prstGeom prst="ellipse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E7C6B"/>
                </a:solidFill>
                <a:latin typeface="Calibri"/>
              </a:defRPr>
            </a:pPr>
            <a:r>
              <a:t>Months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365D"/>
                </a:solidFill>
                <a:latin typeface="Calibri"/>
              </a:defRPr>
            </a:pPr>
            <a:r>
              <a:t>Architecture &amp;</a:t>
            </a:r>
            <a:br/>
            <a:r>
              <a:t>AI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Infrastructure, AI prompt</a:t>
            </a:r>
            <a:br/>
            <a:r>
              <a:t>engineering, PDPA setup</a:t>
            </a:r>
          </a:p>
        </p:txBody>
      </p:sp>
      <p:sp>
        <p:nvSpPr>
          <p:cNvPr id="10" name="Oval 9"/>
          <p:cNvSpPr/>
          <p:nvPr/>
        </p:nvSpPr>
        <p:spPr>
          <a:xfrm>
            <a:off x="2331720" y="1554480"/>
            <a:ext cx="292608" cy="2926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Calibri"/>
              </a:defRPr>
            </a:pPr>
            <a:r>
              <a:t>Months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365D"/>
                </a:solidFill>
                <a:latin typeface="Calibri"/>
              </a:defRPr>
            </a:pPr>
            <a:r>
              <a:t>Platform</a:t>
            </a:r>
            <a:br/>
            <a: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Lesson planner, portfolio,</a:t>
            </a:r>
            <a:br/>
            <a:r>
              <a:t>coaching, dashboard</a:t>
            </a:r>
          </a:p>
        </p:txBody>
      </p:sp>
      <p:sp>
        <p:nvSpPr>
          <p:cNvPr id="14" name="Oval 13"/>
          <p:cNvSpPr/>
          <p:nvPr/>
        </p:nvSpPr>
        <p:spPr>
          <a:xfrm>
            <a:off x="3749040" y="155448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10B981"/>
                </a:solidFill>
                <a:latin typeface="Calibri"/>
              </a:defRPr>
            </a:pPr>
            <a:r>
              <a:t>Month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365D"/>
                </a:solidFill>
                <a:latin typeface="Calibri"/>
              </a:defRPr>
            </a:pPr>
            <a:r>
              <a:t>Pilot</a:t>
            </a:r>
            <a:br/>
            <a:r>
              <a:t>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2–3 centers onboarded,</a:t>
            </a:r>
            <a:br/>
            <a:r>
              <a:t>educator workshops</a:t>
            </a:r>
          </a:p>
        </p:txBody>
      </p:sp>
      <p:sp>
        <p:nvSpPr>
          <p:cNvPr id="18" name="Oval 17"/>
          <p:cNvSpPr/>
          <p:nvPr/>
        </p:nvSpPr>
        <p:spPr>
          <a:xfrm>
            <a:off x="5166360" y="1554480"/>
            <a:ext cx="292608" cy="292608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0A500"/>
                </a:solidFill>
                <a:latin typeface="Calibri"/>
              </a:defRPr>
            </a:pPr>
            <a:r>
              <a:t>Months 6–9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365D"/>
                </a:solidFill>
                <a:latin typeface="Calibri"/>
              </a:defRPr>
            </a:pPr>
            <a:r>
              <a:t>Active</a:t>
            </a:r>
            <a:br/>
            <a:r>
              <a:t>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Live classroom usage,</a:t>
            </a:r>
            <a:br/>
            <a:r>
              <a:t>first IDPs generated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1554480"/>
            <a:ext cx="292608" cy="2926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8B5CF6"/>
                </a:solidFill>
                <a:latin typeface="Calibri"/>
              </a:defRPr>
            </a:pPr>
            <a:r>
              <a:t>Months 10–11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365D"/>
                </a:solidFill>
                <a:latin typeface="Calibri"/>
              </a:defRPr>
            </a:pPr>
            <a:r>
              <a:t>Impact</a:t>
            </a:r>
            <a:br/>
            <a:r>
              <a:t>Assessment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End-of-year LNA,</a:t>
            </a:r>
            <a:br/>
            <a:r>
              <a:t>quantitative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8001000" y="1554480"/>
            <a:ext cx="292608" cy="2926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F4444"/>
                </a:solidFill>
                <a:latin typeface="Calibri"/>
              </a:defRPr>
            </a:pPr>
            <a:r>
              <a:t>Month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365D"/>
                </a:solidFill>
                <a:latin typeface="Calibri"/>
              </a:defRPr>
            </a:pPr>
            <a:r>
              <a:t>Final Report</a:t>
            </a:r>
            <a:br/>
            <a:r>
              <a:t>&amp; Scale 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Findings, commercialisation</a:t>
            </a:r>
            <a:br/>
            <a:r>
              <a:t>roadmap, ECDA 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  <a:latin typeface="Calibri"/>
              </a:defRPr>
            </a:pPr>
            <a:r>
              <a:t>Key Milestones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8862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Month 2: AI prompts validated against QTT rubric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142232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Month 5: First educators onboarded with training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98264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Month 9: First SFw-aligned IDPs auto-generated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54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✓  Month 12: Final impact report to ECDA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Budget Breakdown (SGD)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5029200" cy="502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916936" cy="50292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1: Architecture &amp;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2618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$72,000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2618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5029200" cy="502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653796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4767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2: Security &amp;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94767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$16,000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947671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60320"/>
            <a:ext cx="5029200" cy="502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60320"/>
            <a:ext cx="704088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334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3: Change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6334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$18,000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334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5029200" cy="502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246120"/>
            <a:ext cx="75438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192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4: Project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3192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$19,000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3192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23360"/>
            <a:ext cx="7498079" cy="5486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069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Total Seed Funding 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0A500"/>
                </a:solidFill>
                <a:latin typeface="Calibri"/>
              </a:defRPr>
            </a:pPr>
            <a:r>
              <a:t>SGD $125,000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Senior Full-Stack Developer: $700/day x 40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AI/Prompt Engineer: $650/day x 30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UI/UX Designer: $500/day x 20 days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266944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Cloud + AI API: $1,200/month x 12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VAPT + PDPA Audit: $16,000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Pedagogical Consultant: $800/day x 12 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Educator Workshops: $8,400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5266944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PM + Evaluation: $19,000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Cross-Disciplinary Expertise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256032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8760" y="1234440"/>
            <a:ext cx="640080" cy="640080"/>
          </a:xfrm>
          <a:prstGeom prst="ellipse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Project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E7C6B"/>
                </a:solidFill>
                <a:latin typeface="Calibri"/>
              </a:defRPr>
            </a:pPr>
            <a:r>
              <a:t>1.0 FTE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Oversees timeline, budget, stakeholder</a:t>
            </a:r>
            <a:br/>
            <a:r>
              <a:t>relationships, ECDA liaison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97280"/>
            <a:ext cx="25603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43400" y="1234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Technical Architect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B82F6"/>
                </a:solidFill>
                <a:latin typeface="Calibri"/>
              </a:defRPr>
            </a:pPr>
            <a:r>
              <a:t>1.0 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Full-stack development, AI integration,</a:t>
            </a:r>
            <a:br/>
            <a:r>
              <a:t>system security, infrastructure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097280"/>
            <a:ext cx="256032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78040" y="1234440"/>
            <a:ext cx="640080" cy="64008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AI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0A500"/>
                </a:solidFill>
                <a:latin typeface="Calibri"/>
              </a:defRPr>
            </a:pPr>
            <a:r>
              <a:t>1.0 FTE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Prompt engineering, QTT alignment,</a:t>
            </a:r>
            <a:br/>
            <a:r>
              <a:t>coaching engine, SFw mapping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926080"/>
            <a:ext cx="25603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508760" y="306324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49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Pedagogical Lead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9776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B5CF6"/>
                </a:solidFill>
                <a:latin typeface="Calibri"/>
              </a:defRPr>
            </a:pPr>
            <a:r>
              <a:t>0.5 FTE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EYDF, NEL, QTT, SFw validation,</a:t>
            </a:r>
            <a:br/>
            <a:r>
              <a:t>curriculum alignment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2926080"/>
            <a:ext cx="25603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343400" y="30632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3749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UI/UX Designer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39776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0B981"/>
                </a:solidFill>
                <a:latin typeface="Calibri"/>
              </a:defRPr>
            </a:pPr>
            <a:r>
              <a:t>0.5 FTE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Interface design, educator usability</a:t>
            </a:r>
            <a:br/>
            <a:r>
              <a:t>testing, accessibility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926080"/>
            <a:ext cx="25603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178040" y="3063240"/>
            <a:ext cx="640080" cy="6400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3749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365D"/>
                </a:solidFill>
                <a:latin typeface="Calibri"/>
              </a:defRPr>
            </a:pPr>
            <a:r>
              <a:t>Impact Evaluator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39776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F4444"/>
                </a:solidFill>
                <a:latin typeface="Calibri"/>
              </a:defRPr>
            </a:pPr>
            <a:r>
              <a:t>0.3 FTE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Assessment design, data analysis,</a:t>
            </a:r>
            <a:br/>
            <a:r>
              <a:t>final impact reporting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E7C6B"/>
                </a:solidFill>
                <a:latin typeface="Calibri"/>
              </a:defRPr>
            </a:pPr>
            <a:r>
              <a:t>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365D"/>
                </a:solidFill>
                <a:latin typeface="Calibri"/>
              </a:defRPr>
            </a:pPr>
            <a:r>
              <a:t>Grounded in Singapore's ECE Frameworks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54864" cy="164592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ECDA IDP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E7C6B"/>
                </a:solidFill>
                <a:latin typeface="Calibri"/>
              </a:defRPr>
            </a:pPr>
            <a:r>
              <a:t>Strategic 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Direct alignment with Innovation Seed Fund objectives. AI-enabled solution for sector-wide transformation.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54864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EYDF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alibri"/>
              </a:defRPr>
            </a:pPr>
            <a:r>
              <a:t>Curriculum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Early Years Development Framework. All learning outcomes mapped and tagged in lesson plans and portfolios.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097280"/>
            <a:ext cx="54864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alibri"/>
              </a:defRPr>
            </a:pPr>
            <a:r>
              <a:t>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Nurturing Early Learners. Activity design and assessment indicators aligned to NEL learning areas.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26080"/>
            <a:ext cx="54864" cy="1645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ECDA QTT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A500"/>
                </a:solidFill>
                <a:latin typeface="Calibri"/>
              </a:defRPr>
            </a:pPr>
            <a:r>
              <a:t>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Quality Teaching Tool. Coaching engine built around QTT rubric domains. Director dashboard tracks QTT scores.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2926080"/>
            <a:ext cx="54864" cy="1645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SFw for ECCE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alibri"/>
              </a:defRPr>
            </a:pPr>
            <a: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Skills Framework for Early Childhood. Professional development mapped to TSC codes. WSQ course recommendations.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2926080"/>
            <a:ext cx="54864" cy="1645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  <a:latin typeface="Calibri"/>
              </a:defRPr>
            </a:pPr>
            <a:r>
              <a:t>PDPA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Personal Data Protection Act. Zero public AI training. SG data residency. RBAC. Encrypted storage.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PedaForge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DD"/>
                </a:solidFill>
                <a:latin typeface="Calibri"/>
              </a:defRPr>
            </a:pPr>
            <a:r>
              <a:t>Give educators back the time that matters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AACC"/>
                </a:solidFill>
                <a:latin typeface="Calibri"/>
              </a:defRPr>
            </a:pPr>
            <a:r>
              <a:t>✓  60% reduction in documentation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88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AACC"/>
                </a:solidFill>
                <a:latin typeface="Calibri"/>
              </a:defRPr>
            </a:pPr>
            <a:r>
              <a:t>✓  AI coaching aligned to ECDA Quality Teaching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AACC"/>
                </a:solidFill>
                <a:latin typeface="Calibri"/>
              </a:defRPr>
            </a:pPr>
            <a:r>
              <a:t>✓  Profile-driven differentiated lesson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AACC"/>
                </a:solidFill>
                <a:latin typeface="Calibri"/>
              </a:defRPr>
            </a:pPr>
            <a:r>
              <a:t>✓  Real-time director insights for targeted professional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840480"/>
            <a:ext cx="3657600" cy="4572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38587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SGD $125,000  |  12 Months  |  IDP 2.0 Aligned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