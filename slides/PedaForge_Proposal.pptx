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A0D0"/>
                </a:solidFill>
                <a:latin typeface="Arial"/>
              </a:defRPr>
            </a:pPr>
            <a:r>
              <a:t>ECDA Early Childhood Innovation Sandbox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PedaForge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B8E0"/>
                </a:solidFill>
                <a:latin typeface="Arial"/>
              </a:defRPr>
            </a:pPr>
            <a:r>
              <a:t>AI-Powered Pedagogical Development Platform</a:t>
            </a:r>
            <a:br/>
            <a:r>
              <a:t>for Singapore Early Childhood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A0D0"/>
                </a:solidFill>
                <a:latin typeface="Arial"/>
              </a:defRPr>
            </a:pPr>
            <a:r>
              <a:t>Aligned with ECDA Industry Digital Plan (IDP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80A8"/>
                </a:solidFill>
                <a:latin typeface="Arial"/>
              </a:defRPr>
            </a:pPr>
            <a:r>
              <a:t>Duration: 12 Months  |  Budget: SGD $21,000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80A8"/>
                </a:solidFill>
                <a:latin typeface="Arial"/>
              </a:defRPr>
            </a:pPr>
            <a: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Singapore's ECE Documentation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Arial"/>
              </a:defRPr>
            </a:pPr>
            <a:r>
              <a:t>Excessive administrative burden is directly harming pedagogical quality and educator retention in the early childhood sector.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Emotional Exhaustion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063C"/>
                </a:solidFill>
                <a:latin typeface="Arial"/>
              </a:defRPr>
            </a:pPr>
            <a:r>
              <a:t>8 hrs/week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on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Administrative compliance tasks cause severe emotional exhaustion. Educators spend evenings and weekends on paperwork.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Pedagogical 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E18"/>
                </a:solidFill>
                <a:latin typeface="Arial"/>
              </a:defRPr>
            </a:pPr>
            <a:r>
              <a:t>35% 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interaction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Cognitive overload from multi-framework documentation forces one-size-fits-all planning, reducing individualised learning.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Siloed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B82F6"/>
                </a:solidFill>
                <a:latin typeface="Arial"/>
              </a:defRPr>
            </a:pPr>
            <a: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real-time visibility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Directors lack data on daily pedagogical quality. Annual appraisals are subjective and disconnected from the Skills Framework.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B7280"/>
                </a:solidFill>
                <a:latin typeface="Arial"/>
              </a:defRPr>
            </a:pPr>
            <a:r>
              <a:t>Source: OECD TALIS Starting Strong (2024), Early Childhood Research Quarterly (2024)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Four Integrated Modules, One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1. Smart Lesson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AI generates differentiated scaffolding based on classroom learning profiles. Maps to EYDF, NEL, and implements Rehearse &amp; Retrieve scheduling.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063C"/>
                </a:solidFill>
                <a:latin typeface="Arial"/>
              </a:defRPr>
            </a:pPr>
            <a:r>
              <a:t>EYDF | NEL | Differentiation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79" y="109728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2. Portfolio &amp;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Capture observations and work samples. AI drafts developmental narratives. 'Living Profile' feeds back into lesson planning.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B82F6"/>
                </a:solidFill>
                <a:latin typeface="Arial"/>
              </a:defRPr>
            </a:pPr>
            <a:r>
              <a:t>Living Profile | 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3. AI Coaching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Four coaching modes: Reflective Practice, QTT Deep Dive, Socratic Inquiry, Scenario Analysis. Anti-sycophancy directives built 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ECD1B"/>
                </a:solidFill>
                <a:latin typeface="Arial"/>
              </a:defRPr>
            </a:pPr>
            <a:r>
              <a:t>QTT | Skills Framework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79" y="301752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59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4. Director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Centre-wide QTT averages, educator profiles, PLC collaboration topics, and SFw-aligned professional development recommendations.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Arial"/>
              </a:defRPr>
            </a:pPr>
            <a:r>
              <a:t>LNA | SFw | IDP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ECD1B"/>
                </a:solidFill>
                <a:latin typeface="Arial"/>
              </a:defRPr>
            </a:pPr>
            <a:r>
              <a:t>SIGNATURE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AI Coaching Engine: Four Modes, One Growth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Reflective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Gibbs' Reflective Cycle</a:t>
            </a:r>
            <a:br/>
            <a:br/>
            <a:r>
              <a:t>Gentle, structured reflection on daily teaching episodes.</a:t>
            </a:r>
            <a:br/>
            <a:br/>
            <a:r>
              <a:t>Best for: Daily reflection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2588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3736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Supportive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QTT Deep Dive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ECDA Quality Teaching Tool</a:t>
            </a:r>
            <a:br/>
            <a:br/>
            <a:r>
              <a:t>Targeted coaching aligned to specific QTT rubric domains.</a:t>
            </a:r>
            <a:br/>
            <a:br/>
            <a:r>
              <a:t>Best for: Improvement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6324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8620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Focused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Socratic Inquiry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Six question types</a:t>
            </a:r>
            <a:br/>
            <a:br/>
            <a:r>
              <a:t>Probing questions that surface hidden pedagogical assumptions.</a:t>
            </a:r>
            <a:br/>
            <a:br/>
            <a:r>
              <a:t>Best for: Assumptions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1208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2356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Challenging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Scenario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Gary Klein Pre-Mortem</a:t>
            </a:r>
            <a:br/>
            <a:br/>
            <a:r>
              <a:t>Stress-test lesson plans before classroom execution.</a:t>
            </a:r>
            <a:br/>
            <a:br/>
            <a:r>
              <a:t>Best for: Preparation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8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Rigorous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93192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Anti-sycophancy: No reflexive validation, specific earned praise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187952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Safety guardrails: Auto de-escalation on distress 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443983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QTT tagging: Every coaching response tagged to QTT domains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700016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Referral pathway: 'Speak to a Real Coach' at any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The PedaForge Synergistic Ecosystem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822960" cy="82296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Observe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captures</a:t>
            </a:r>
            <a:br/>
            <a:r>
              <a:t>observations, work</a:t>
            </a:r>
            <a:br/>
            <a:r>
              <a:t>samples, anecdotes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1984248" y="118872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4248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builds Living</a:t>
            </a:r>
            <a:br/>
            <a:r>
              <a:t>Profile: strengths,</a:t>
            </a:r>
            <a:br/>
            <a:r>
              <a:t>needs, ZPD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3419856" y="1188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6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generates</a:t>
            </a:r>
            <a:br/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4855464" y="1188720"/>
            <a:ext cx="822960" cy="822960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Teach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delivers</a:t>
            </a:r>
            <a:br/>
            <a:r>
              <a:t>with scaffolding</a:t>
            </a:r>
            <a:br/>
            <a:r>
              <a:t>strategies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9864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6291072" y="1188720"/>
            <a:ext cx="822960" cy="82296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Reflect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6752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Coach guides</a:t>
            </a:r>
            <a:br/>
            <a:r>
              <a:t>pedagogical</a:t>
            </a:r>
            <a:br/>
            <a:r>
              <a:t>reflection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7726680" y="118872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6.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Grow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Director sees</a:t>
            </a:r>
            <a:br/>
            <a:r>
              <a:t>insights, assigns</a:t>
            </a:r>
            <a:br/>
            <a:r>
              <a:t>targeted PD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566160"/>
            <a:ext cx="8046720" cy="64008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Continuous Feedback Loop: Portfolio observations drive lesson planning → Lesson execution feeds coaching reflections → Coaching insights inform director's PD decisions → Growth targets cycle back to observations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063C"/>
                </a:solidFill>
                <a:latin typeface="Arial"/>
              </a:defRPr>
            </a:pPr>
            <a:r>
              <a:t>Children's Learning Outcomes + Educator Professional Growth = Quality ECE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TECHNICAL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Enterprise-Grade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Angular, TypeScript, TailwindCSS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81912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627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Python 3.11+, FastAPI, Uvicorn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12263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57983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AI 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157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GPT-4o-mini via Azure OpenAI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42615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88335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8833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PostgreSQL (children, plans, portfolios)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72968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186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218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JWT + bcrypt, RBAC (educator / director / admin)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Azure App Service (SG region), Key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1051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Data Privacy &amp; 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14630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PDPA Compliant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16642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Zero public AI training; child data never used for model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1031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SG Data Residency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3042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All data hosted in Singapore Azure region (southeastasia)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7432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Role-Based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2944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Educators see only assigned cohorts; Directors get aggregated centre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383279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Encryption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584447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AES-256 at rest, TLS 1.2+ in transit, Key Vault for secrets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40233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2245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All actions logged with user ID and timestamp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IMPACT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Measurable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063C"/>
                </a:solidFill>
                <a:latin typeface="Arial"/>
              </a:defRPr>
            </a:pPr>
            <a: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Documentation</a:t>
            </a:r>
            <a:br/>
            <a:r>
              <a:t>Time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8 hrs to 3 hrs/week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B82F6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2+ profiles per 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  <a:latin typeface="Arial"/>
              </a:defRPr>
            </a:pPr>
            <a: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IDP Accuracy</a:t>
            </a:r>
            <a:br/>
            <a:r>
              <a:t>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ECD1B"/>
                </a:solidFill>
                <a:latin typeface="Arial"/>
              </a:defRPr>
            </a:pPr>
            <a:r>
              <a:t>2x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Weekly Coaching</a:t>
            </a:r>
            <a:br/>
            <a:r>
              <a:t>Cycles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Per educator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Arial"/>
              </a:defRPr>
            </a:pPr>
            <a:r>
              <a:t>+0.5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QTT Score</a:t>
            </a:r>
            <a:br/>
            <a:r>
              <a:t>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Centre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063C"/>
                </a:solidFill>
                <a:latin typeface="Arial"/>
              </a:defRPr>
            </a:pPr>
            <a:r>
              <a:t>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Educator</a:t>
            </a:r>
            <a:br/>
            <a:r>
              <a:t>Retention 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Would continue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12-MONTH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Sandbox Implementation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80467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292608" cy="292608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8063C"/>
                </a:solidFill>
                <a:latin typeface="Arial"/>
              </a:defRPr>
            </a:pPr>
            <a:r>
              <a:t>Months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Development &amp;</a:t>
            </a:r>
            <a:br/>
            <a:r>
              <a:t>AI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Azure infrastructure,</a:t>
            </a:r>
            <a:br/>
            <a:r>
              <a:t>core modules, AI prompts</a:t>
            </a:r>
          </a:p>
        </p:txBody>
      </p:sp>
      <p:sp>
        <p:nvSpPr>
          <p:cNvPr id="10" name="Oval 9"/>
          <p:cNvSpPr/>
          <p:nvPr/>
        </p:nvSpPr>
        <p:spPr>
          <a:xfrm>
            <a:off x="2331720" y="1554480"/>
            <a:ext cx="292608" cy="2926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Months 4–5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Pilot Deployment</a:t>
            </a:r>
            <a:br/>
            <a:r>
              <a:t>&amp;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2–3 centres onboarded,</a:t>
            </a:r>
            <a:br/>
            <a:r>
              <a:t>educator workshops</a:t>
            </a:r>
          </a:p>
        </p:txBody>
      </p:sp>
      <p:sp>
        <p:nvSpPr>
          <p:cNvPr id="14" name="Oval 13"/>
          <p:cNvSpPr/>
          <p:nvPr/>
        </p:nvSpPr>
        <p:spPr>
          <a:xfrm>
            <a:off x="3749040" y="1554480"/>
            <a:ext cx="292608" cy="292608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ECD1B"/>
                </a:solidFill>
                <a:latin typeface="Arial"/>
              </a:defRPr>
            </a:pPr>
            <a:r>
              <a:t>Months 6–9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Active Usage</a:t>
            </a:r>
            <a:br/>
            <a:r>
              <a:t>&amp; 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Live classroom usage,</a:t>
            </a:r>
            <a:br/>
            <a:r>
              <a:t>IDPs, AI coaching</a:t>
            </a:r>
          </a:p>
        </p:txBody>
      </p:sp>
      <p:sp>
        <p:nvSpPr>
          <p:cNvPr id="18" name="Oval 17"/>
          <p:cNvSpPr/>
          <p:nvPr/>
        </p:nvSpPr>
        <p:spPr>
          <a:xfrm>
            <a:off x="5166360" y="1554480"/>
            <a:ext cx="292608" cy="292608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8063C"/>
                </a:solidFill>
                <a:latin typeface="Arial"/>
              </a:defRPr>
            </a:pPr>
            <a:r>
              <a:t>Months 10–12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Assessment</a:t>
            </a:r>
            <a:br/>
            <a:r>
              <a:t>&amp; Scaling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Impact report, ECDA</a:t>
            </a:r>
            <a:br/>
            <a:r>
              <a:t>presentation, scale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A5E"/>
                </a:solidFill>
                <a:latin typeface="Arial"/>
              </a:defRPr>
            </a:pPr>
            <a:r>
              <a:t>Key Milestones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8862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3: AI prompts validated against QTT 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42232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5: First educators onboarded with training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982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9: First SFw-aligned IDPs auto-generated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54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12: Final impact report to ECDA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Budget Breakdown (SGD)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564892" cy="502920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Development &amp;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$10,800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2618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51%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75438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4767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Security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94767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$3,200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947671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603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60320"/>
            <a:ext cx="1056132" cy="502920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334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Change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6334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$4,400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334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21%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653796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Evaluation &amp; Reporting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3192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$2,600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3192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13%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7498079" cy="548640"/>
          </a:xfrm>
          <a:prstGeom prst="rect">
            <a:avLst/>
          </a:prstGeom>
          <a:solidFill>
            <a:srgbClr val="2D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69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Total Sandbox Funding 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ECD1B"/>
                </a:solidFill>
                <a:latin typeface="Arial"/>
              </a:defRPr>
            </a:pPr>
            <a:r>
              <a:t>SGD $21,000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Full-Stack + AI Dev: $500/day x 16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Azure Hosting: $150/month x 12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GPT-4o-mini via Azure OpenAI: $85/month x 12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PDPA + Security: $3,200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Pedagogical Consultant: $600/day x 4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Educator Workshops: $2,000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266944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Evaluation + Reporting: $2,600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Cross-Disciplinary Expertise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8760" y="1234440"/>
            <a:ext cx="640080" cy="64008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Project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8063C"/>
                </a:solidFill>
                <a:latin typeface="Arial"/>
              </a:defRPr>
            </a:pPr>
            <a:r>
              <a:t>0.3 FTE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Timeline, budget, stakeholder liaison,</a:t>
            </a:r>
            <a:br/>
            <a:r>
              <a:t>ECDA comms, evaluation &amp;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1234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Technical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B82F6"/>
                </a:solidFill>
                <a:latin typeface="Arial"/>
              </a:defRPr>
            </a:pPr>
            <a:r>
              <a:t>1.0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Full-stack development, AI integration</a:t>
            </a:r>
            <a:br/>
            <a:r>
              <a:t>via Azure OpenAI,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234440"/>
            <a:ext cx="640080" cy="640080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Pedagogical Specialist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ECD1B"/>
                </a:solidFill>
                <a:latin typeface="Arial"/>
              </a:defRPr>
            </a:pPr>
            <a:r>
              <a:t>0.2 FTE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EYDF, NEL, QTT, SFw validation,</a:t>
            </a:r>
            <a:br/>
            <a:r>
              <a:t>educator training facilitation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Grounded in Singapore's ECE Frameworks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ECDA IDP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063C"/>
                </a:solidFill>
                <a:latin typeface="Arial"/>
              </a:defRPr>
            </a:pPr>
            <a:r>
              <a:t>Strategic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Direct alignment with Early Childhood Innovation Sandbox objectives. AI-enabled solution for sector-wide transformation.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EYDF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Arial"/>
              </a:defRPr>
            </a:pPr>
            <a:r>
              <a:t>Curriculum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Early Years Development Framework. All learning outcomes mapped and tagged in lesson plans and portfolios.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Arial"/>
              </a:defRPr>
            </a:pPr>
            <a: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Nurturing Early Learners. Activity design and assessment indicators aligned to NEL learning areas.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ECDA 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ECD1B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Quality Teaching Tool. Coaching engine built around QTT rubric domains. Director dashboard tracks QTT scores.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SFw for ECCE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Arial"/>
              </a:defRPr>
            </a:pPr>
            <a:r>
              <a:t>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Skills Framework for Early Childhood. Professional development mapped to TSC codes. WSQ course recommendations.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PDPA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063C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Personal Data Protection Act. Zero public AI training. SG data residency. RBAC. Encrypted storage.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PedaForge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8B8E0"/>
                </a:solidFill>
                <a:latin typeface="Arial"/>
              </a:defRPr>
            </a:pPr>
            <a:r>
              <a:t>Give educators back the time that matters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60% reduction in documentation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88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AI coaching aligned to ECDA Quality Teaching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Profile-driven differentiated lesson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Real-time director insights for targeted professional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840480"/>
            <a:ext cx="3657600" cy="457200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38587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SGD $21,000  |  12 Months  |  IDP 2.0 Aligned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