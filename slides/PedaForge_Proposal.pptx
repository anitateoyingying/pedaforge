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A0D0"/>
                </a:solidFill>
                <a:latin typeface="Arial"/>
              </a:defRPr>
            </a:pPr>
            <a:r>
              <a:t>ECDA Early Childhood Innovation Sandbox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PedaForge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B8E0"/>
                </a:solidFill>
                <a:latin typeface="Arial"/>
              </a:defRPr>
            </a:pPr>
            <a:r>
              <a:t>AI-Powered Pedagogical Development Platform</a:t>
            </a:r>
            <a:br/>
            <a:r>
              <a:t>for Singapore Early Childhood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A0D0"/>
                </a:solidFill>
                <a:latin typeface="Arial"/>
              </a:defRPr>
            </a:pPr>
            <a:r>
              <a:t>Aligned with ECDA Industry Digital Plan (IDP 2.0)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0A8"/>
                </a:solidFill>
                <a:latin typeface="Arial"/>
              </a:defRPr>
            </a:pPr>
            <a:r>
              <a:t>Duration: 12 Months  |  Budget: SGD $21,000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80A8"/>
                </a:solidFill>
                <a:latin typeface="Arial"/>
              </a:defRPr>
            </a:pPr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Singapore's ECE Documentation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Arial"/>
              </a:defRPr>
            </a:pPr>
            <a:r>
              <a:t>Excessive administrative burden is directly harming pedagogical quality and educator retention in the early childhood sector.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560320" cy="310896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A5E"/>
                </a:solidFill>
                <a:latin typeface="Arial"/>
              </a:defRPr>
            </a:pPr>
            <a:r>
              <a:t>Emotional Exhaustion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063C"/>
                </a:solidFill>
                <a:latin typeface="Arial"/>
              </a:defRPr>
            </a:pPr>
            <a:r>
              <a:t>8 hrs/week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on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Administrative compliance tasks cause severe emotional exhaustion. Educators spend evenings and weekends on paperwork.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560320" cy="310896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A5E"/>
                </a:solidFill>
                <a:latin typeface="Arial"/>
              </a:defRPr>
            </a:pPr>
            <a:r>
              <a:t>Pedagogical Compromise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E18"/>
                </a:solidFill>
                <a:latin typeface="Arial"/>
              </a:defRPr>
            </a:pPr>
            <a:r>
              <a:t>35% 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interaction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Cognitive overload from multi-framework documentation forces one-size-fits-all planning, reducing individualised learning.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560320" cy="310896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A5E"/>
                </a:solidFill>
                <a:latin typeface="Arial"/>
              </a:defRPr>
            </a:pPr>
            <a:r>
              <a:t>Siloed Leadership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  <a:latin typeface="Arial"/>
              </a:defRPr>
            </a:pPr>
            <a: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Arial"/>
              </a:defRPr>
            </a:pPr>
            <a:r>
              <a:t>real-time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Directors lack data on daily pedagogical quality. Annual appraisals are subjective and disconnected from the Skills Framework.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Arial"/>
              </a:defRPr>
            </a:pPr>
            <a:r>
              <a:t>Source: OECD TALIS Starting Strong (2024), Early Childhood Research Quarterly (2024)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Four Integrated Modules, One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840480" cy="173736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1. Smart Lesson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AI generates differentiated scaffolding based on classroom learning profiles. Maps to EYDF, NEL, and implements Rehearse &amp; Retrieve scheduling.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063C"/>
                </a:solidFill>
                <a:latin typeface="Arial"/>
              </a:defRPr>
            </a:pPr>
            <a:r>
              <a:t>EYDF | NEL | Differentiation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1097280"/>
            <a:ext cx="3840480" cy="173736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2. Portfolio &amp;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554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Capture observations and work samples. AI drafts developmental narratives. 'Living Profile' feeds back into lesson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2423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Arial"/>
              </a:defRPr>
            </a:pPr>
            <a:r>
              <a:t>Living Profile | Assessment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3840480" cy="173736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3. AI Coaching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Four coaching modes: Reflective Practice, QTT Deep Dive, Socratic Inquiry, Scenario Analysis. Anti-sycophancy directives built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ECD1B"/>
                </a:solidFill>
                <a:latin typeface="Arial"/>
              </a:defRPr>
            </a:pPr>
            <a:r>
              <a:t>QTT | Skills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3017520"/>
            <a:ext cx="3840480" cy="173736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4. Director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34747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Centre-wide QTT averages, educator profiles, PLC collaboration topics, and SFw-aligned professional development recommendations.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4343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Arial"/>
              </a:defRPr>
            </a:pPr>
            <a:r>
              <a:t>LNA | SFw | IDP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ECD1B"/>
                </a:solidFill>
                <a:latin typeface="Arial"/>
              </a:defRPr>
            </a:pPr>
            <a:r>
              <a:t>SIGNATURE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AI Coaching Engine: Four Modes, One Growth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965960" cy="2560320"/>
          </a:xfrm>
          <a:prstGeom prst="rect">
            <a:avLst/>
          </a:prstGeom>
          <a:solidFill>
            <a:srgbClr val="3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Reflective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A0C8"/>
                </a:solidFill>
                <a:latin typeface="Arial"/>
              </a:defRPr>
            </a:pPr>
            <a:r>
              <a:t>Gibbs' Reflective Cycle</a:t>
            </a:r>
            <a:br/>
            <a:br/>
            <a:r>
              <a:t>Gentle, structured reflection on daily teaching episodes.</a:t>
            </a:r>
            <a:br/>
            <a:br/>
            <a:r>
              <a:t>Best for: Daily reflection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320040" cy="73152"/>
          </a:xfrm>
          <a:prstGeom prst="rect">
            <a:avLst/>
          </a:prstGeom>
          <a:solidFill>
            <a:srgbClr val="3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25880" y="3200400"/>
            <a:ext cx="320040" cy="73152"/>
          </a:xfrm>
          <a:prstGeom prst="rect">
            <a:avLst/>
          </a:prstGeom>
          <a:solidFill>
            <a:srgbClr val="3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7360" y="3200400"/>
            <a:ext cx="320040" cy="73152"/>
          </a:xfrm>
          <a:prstGeom prst="rect">
            <a:avLst/>
          </a:prstGeom>
          <a:solidFill>
            <a:srgbClr val="3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A0D0"/>
                </a:solidFill>
                <a:latin typeface="Arial"/>
              </a:defRPr>
            </a:pPr>
            <a:r>
              <a:t>Supportive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188720"/>
            <a:ext cx="1965960" cy="2560320"/>
          </a:xfrm>
          <a:prstGeom prst="rect">
            <a:avLst/>
          </a:prstGeom>
          <a:solidFill>
            <a:srgbClr val="3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280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QTT Deep Dive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64592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A0C8"/>
                </a:solidFill>
                <a:latin typeface="Arial"/>
              </a:defRPr>
            </a:pPr>
            <a:r>
              <a:t>ECDA Quality Teaching Tool</a:t>
            </a:r>
            <a:br/>
            <a:br/>
            <a:r>
              <a:t>Targeted coaching aligned to specific QTT rubric domains.</a:t>
            </a:r>
            <a:br/>
            <a:br/>
            <a:r>
              <a:t>Best for: Improvement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324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3200400"/>
            <a:ext cx="320040" cy="73152"/>
          </a:xfrm>
          <a:prstGeom prst="rect">
            <a:avLst/>
          </a:prstGeom>
          <a:solidFill>
            <a:srgbClr val="3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86200" y="3200400"/>
            <a:ext cx="320040" cy="73152"/>
          </a:xfrm>
          <a:prstGeom prst="rect">
            <a:avLst/>
          </a:prstGeom>
          <a:solidFill>
            <a:srgbClr val="3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A0D0"/>
                </a:solidFill>
                <a:latin typeface="Arial"/>
              </a:defRPr>
            </a:pPr>
            <a:r>
              <a:t>Focused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188720"/>
            <a:ext cx="1965960" cy="2560320"/>
          </a:xfrm>
          <a:prstGeom prst="rect">
            <a:avLst/>
          </a:prstGeom>
          <a:solidFill>
            <a:srgbClr val="3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1280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Socratic Inquiry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64592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A0C8"/>
                </a:solidFill>
                <a:latin typeface="Arial"/>
              </a:defRPr>
            </a:pPr>
            <a:r>
              <a:t>Six question types</a:t>
            </a:r>
            <a:br/>
            <a:br/>
            <a:r>
              <a:t>Probing questions that surface hidden pedagogical assumptions.</a:t>
            </a:r>
            <a:br/>
            <a:br/>
            <a:r>
              <a:t>Best for: Assumptions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208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3200400"/>
            <a:ext cx="320040" cy="73152"/>
          </a:xfrm>
          <a:prstGeom prst="rect">
            <a:avLst/>
          </a:prstGeom>
          <a:solidFill>
            <a:srgbClr val="3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A0D0"/>
                </a:solidFill>
                <a:latin typeface="Arial"/>
              </a:defRPr>
            </a:pPr>
            <a:r>
              <a:t>Challenging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80" y="1188720"/>
            <a:ext cx="1965960" cy="2560320"/>
          </a:xfrm>
          <a:prstGeom prst="rect">
            <a:avLst/>
          </a:prstGeom>
          <a:solidFill>
            <a:srgbClr val="3D26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12801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Scenario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1645920"/>
            <a:ext cx="1691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A0C8"/>
                </a:solidFill>
                <a:latin typeface="Arial"/>
              </a:defRPr>
            </a:pPr>
            <a:r>
              <a:t>Gary Klein Pre-Mortem</a:t>
            </a:r>
            <a:br/>
            <a:br/>
            <a:r>
              <a:t>Stress-test lesson plans before classroom execution.</a:t>
            </a:r>
            <a:br/>
            <a:br/>
            <a:r>
              <a:t>Best for: Preparation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80" y="3200400"/>
            <a:ext cx="320040" cy="73152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33375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B8A0D0"/>
                </a:solidFill>
                <a:latin typeface="Arial"/>
              </a:defRPr>
            </a:pPr>
            <a:r>
              <a:t>Rigorous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3192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A0D0"/>
                </a:solidFill>
                <a:latin typeface="Arial"/>
              </a:defRPr>
            </a:pPr>
            <a:r>
              <a:t>  Anti-sycophancy: No reflexive validation, specific earned praise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18795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A0D0"/>
                </a:solidFill>
                <a:latin typeface="Arial"/>
              </a:defRPr>
            </a:pPr>
            <a:r>
              <a:t>  Safety guardrails: Auto de-escalation on distress signals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443983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A0D0"/>
                </a:solidFill>
                <a:latin typeface="Arial"/>
              </a:defRPr>
            </a:pPr>
            <a:r>
              <a:t>  QTT tagging: Every coaching response tagged to QTT domains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00016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A0D0"/>
                </a:solidFill>
                <a:latin typeface="Arial"/>
              </a:defRPr>
            </a:pPr>
            <a:r>
              <a:t>  Referral pathway: 'Speak to a Real Coach' at any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The PedaForge Synergistic Ecosystem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188720"/>
            <a:ext cx="822960" cy="822960"/>
          </a:xfrm>
          <a:prstGeom prst="ellipse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Educator captures</a:t>
            </a:r>
            <a:br/>
            <a:r>
              <a:t>observations, work</a:t>
            </a:r>
            <a:br/>
            <a:r>
              <a:t>samples, anecdotes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1984248" y="118872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4248" y="1325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423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AI builds Living</a:t>
            </a:r>
            <a:br/>
            <a:r>
              <a:t>Profile: strengths,</a:t>
            </a:r>
            <a:br/>
            <a:r>
              <a:t>needs, ZPD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3419856" y="11887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1325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2423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AI generates</a:t>
            </a:r>
            <a:br/>
            <a:r>
              <a:t>differentiated</a:t>
            </a:r>
            <a:br/>
            <a:r>
              <a:t>lesson 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4855464" y="1188720"/>
            <a:ext cx="822960" cy="822960"/>
          </a:xfrm>
          <a:prstGeom prst="ellipse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1325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Teach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423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Educator delivers</a:t>
            </a:r>
            <a:br/>
            <a:r>
              <a:t>with scaffolding</a:t>
            </a:r>
            <a:br/>
            <a:r>
              <a:t>strategies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6291072" y="1188720"/>
            <a:ext cx="822960" cy="822960"/>
          </a:xfrm>
          <a:prstGeom prst="ellipse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325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Reflect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2423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AI Coach guides</a:t>
            </a:r>
            <a:br/>
            <a:r>
              <a:t>pedagogical</a:t>
            </a:r>
            <a:br/>
            <a:r>
              <a:t>reflection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5472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7726680" y="118872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132588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Grow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24231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Director sees</a:t>
            </a:r>
            <a:br/>
            <a:r>
              <a:t>insights, assigns</a:t>
            </a:r>
            <a:br/>
            <a:r>
              <a:t>targeted PD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6118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Continuous Feedback Loop: Portfolio observations drive lesson planning → Lesson execution feeds coaching reflections → Coaching insights inform director's PD decisions → Growth targets cycle back to observations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063C"/>
                </a:solidFill>
                <a:latin typeface="Arial"/>
              </a:defRPr>
            </a:pPr>
            <a:r>
              <a:t>Children's Learning Outcomes + Educator Professional Growth = Quality ECE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TECHNICAL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Enterprise-Grade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840480" cy="438912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A5E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Angular, TypeScript, TailwindCSS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81912"/>
            <a:ext cx="3840480" cy="438912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A5E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Python 3.11+, FastAPI, Uvicorn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12263"/>
            <a:ext cx="3840480" cy="438912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3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A5E"/>
                </a:solidFill>
                <a:latin typeface="Arial"/>
              </a:defRPr>
            </a:pPr>
            <a:r>
              <a:t>AI 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579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GPT-4.1-mini via Azure OpenAI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42615"/>
            <a:ext cx="3840480" cy="438912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8833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A5E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8833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PostgreSQL (children, plans, portfolios)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72968"/>
            <a:ext cx="3840480" cy="438912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186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A5E"/>
                </a:solidFill>
                <a:latin typeface="Arial"/>
              </a:defRPr>
            </a:pPr>
            <a: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218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JWT + bcrypt, RBAC (educator / director / admin)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3840480" cy="438912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2A5E"/>
                </a:solidFill>
                <a:latin typeface="Arial"/>
              </a:defRPr>
            </a:pPr>
            <a:r>
              <a:t>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749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Azure App Service (SG region), Key Vault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Data Privacy &amp;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4630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PDPA Compliant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1664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Zero public AI training; child data never used for model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1031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SG Data Residency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3042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All data hosted in Singapore Azure region (southeastasia)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7432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Role-Based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9443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Educators see only assigned cohorts; Directors get aggregated centre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38327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Encryption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58444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AES-256 at rest, TLS 1.2+ in transit, Key Vault for secrets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0233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2245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All actions logged with user ID and timestamp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IMPACT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Measurable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063C"/>
                </a:solidFill>
                <a:latin typeface="Arial"/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Documentation</a:t>
            </a:r>
            <a:br/>
            <a:r>
              <a:t>Time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8 hrs to 3 hrs/week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34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Differentiated</a:t>
            </a:r>
            <a:br/>
            <a:r>
              <a:t>Lesson Plans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2+ profiles per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74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IDP Accuracy</a:t>
            </a:r>
            <a:br/>
            <a:r>
              <a:t>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Educator agreement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ECD1B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Weekly Coaching</a:t>
            </a:r>
            <a:br/>
            <a:r>
              <a:t>Cycles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Per educator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260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Arial"/>
              </a:defRPr>
            </a:pPr>
            <a:r>
              <a:t>+0.5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QTT Score</a:t>
            </a:r>
            <a:br/>
            <a:r>
              <a:t>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Centre 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260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063C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Educator</a:t>
            </a:r>
            <a:br/>
            <a:r>
              <a:t>Retention Intent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Would continue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12-MONTH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Sandbox Implementation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804672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292608" cy="292608"/>
          </a:xfrm>
          <a:prstGeom prst="ellipse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063C"/>
                </a:solidFill>
                <a:latin typeface="Arial"/>
              </a:defRPr>
            </a:pPr>
            <a:r>
              <a:t>Months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A5E"/>
                </a:solidFill>
                <a:latin typeface="Arial"/>
              </a:defRPr>
            </a:pPr>
            <a:r>
              <a:t>Development &amp;</a:t>
            </a:r>
            <a:br/>
            <a:r>
              <a:t>AI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Arial"/>
              </a:defRPr>
            </a:pPr>
            <a:r>
              <a:t>Azure infrastructure,</a:t>
            </a:r>
            <a:br/>
            <a:r>
              <a:t>core modules, AI prompts</a:t>
            </a:r>
          </a:p>
        </p:txBody>
      </p:sp>
      <p:sp>
        <p:nvSpPr>
          <p:cNvPr id="10" name="Oval 9"/>
          <p:cNvSpPr/>
          <p:nvPr/>
        </p:nvSpPr>
        <p:spPr>
          <a:xfrm>
            <a:off x="2331720" y="1554480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Arial"/>
              </a:defRPr>
            </a:pPr>
            <a:r>
              <a:t>Months 4–5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A5E"/>
                </a:solidFill>
                <a:latin typeface="Arial"/>
              </a:defRPr>
            </a:pPr>
            <a:r>
              <a:t>Pilot Deployment</a:t>
            </a:r>
            <a:br/>
            <a:r>
              <a:t>&amp;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Arial"/>
              </a:defRPr>
            </a:pPr>
            <a:r>
              <a:t>2–3 centres onboarded,</a:t>
            </a:r>
            <a:br/>
            <a:r>
              <a:t>educator workshops</a:t>
            </a:r>
          </a:p>
        </p:txBody>
      </p:sp>
      <p:sp>
        <p:nvSpPr>
          <p:cNvPr id="14" name="Oval 13"/>
          <p:cNvSpPr/>
          <p:nvPr/>
        </p:nvSpPr>
        <p:spPr>
          <a:xfrm>
            <a:off x="3749040" y="1554480"/>
            <a:ext cx="292608" cy="292608"/>
          </a:xfrm>
          <a:prstGeom prst="ellipse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ECD1B"/>
                </a:solidFill>
                <a:latin typeface="Arial"/>
              </a:defRPr>
            </a:pPr>
            <a:r>
              <a:t>Months 6–9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A5E"/>
                </a:solidFill>
                <a:latin typeface="Arial"/>
              </a:defRPr>
            </a:pPr>
            <a:r>
              <a:t>Active Usage</a:t>
            </a:r>
            <a:br/>
            <a:r>
              <a:t>&amp;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Arial"/>
              </a:defRPr>
            </a:pPr>
            <a:r>
              <a:t>Live classroom usage,</a:t>
            </a:r>
            <a:br/>
            <a:r>
              <a:t>IDPs, AI coaching</a:t>
            </a:r>
          </a:p>
        </p:txBody>
      </p:sp>
      <p:sp>
        <p:nvSpPr>
          <p:cNvPr id="18" name="Oval 17"/>
          <p:cNvSpPr/>
          <p:nvPr/>
        </p:nvSpPr>
        <p:spPr>
          <a:xfrm>
            <a:off x="5166360" y="1554480"/>
            <a:ext cx="292608" cy="292608"/>
          </a:xfrm>
          <a:prstGeom prst="ellipse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143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063C"/>
                </a:solidFill>
                <a:latin typeface="Arial"/>
              </a:defRPr>
            </a:pPr>
            <a:r>
              <a:t>Months 10–12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2A5E"/>
                </a:solidFill>
                <a:latin typeface="Arial"/>
              </a:defRPr>
            </a:pPr>
            <a:r>
              <a:t>Assessment</a:t>
            </a:r>
            <a:br/>
            <a:r>
              <a:t>&amp;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5603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Arial"/>
              </a:defRPr>
            </a:pPr>
            <a:r>
              <a:t>Impact report, ECDA</a:t>
            </a:r>
            <a:br/>
            <a:r>
              <a:t>presentation, scale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2A5E"/>
                </a:solidFill>
                <a:latin typeface="Arial"/>
              </a:defRPr>
            </a:pPr>
            <a:r>
              <a:t>Key Milestones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86200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✓  Month 3: AI prompts validated against QTT rubric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42232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✓  Month 5: First educators onboarded with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98264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✓  Month 9: First SFw-aligned IDPs auto-generated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54296"/>
            <a:ext cx="7863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✓  Month 12: Final impact report to ECDA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Budget Breakdown (SGD)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029200" cy="502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564892" cy="502920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Development &amp;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2618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D2A5E"/>
                </a:solidFill>
                <a:latin typeface="Arial"/>
              </a:defRPr>
            </a:pPr>
            <a:r>
              <a:t>$10,800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2618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51%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029200" cy="502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75438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4767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Security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94767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D2A5E"/>
                </a:solidFill>
                <a:latin typeface="Arial"/>
              </a:defRPr>
            </a:pPr>
            <a:r>
              <a:t>$3,200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94767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15%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60320"/>
            <a:ext cx="5029200" cy="502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560320"/>
            <a:ext cx="1056132" cy="502920"/>
          </a:xfrm>
          <a:prstGeom prst="rect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33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Change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6334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D2A5E"/>
                </a:solidFill>
                <a:latin typeface="Arial"/>
              </a:defRPr>
            </a:pPr>
            <a:r>
              <a:t>$4,400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6334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21%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5029200" cy="502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46120"/>
            <a:ext cx="653796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319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Evaluation &amp;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319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D2A5E"/>
                </a:solidFill>
                <a:latin typeface="Arial"/>
              </a:defRPr>
            </a:pPr>
            <a:r>
              <a:t>$2,600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1927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Arial"/>
              </a:defRPr>
            </a:pPr>
            <a:r>
              <a:t>13%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7498079" cy="548640"/>
          </a:xfrm>
          <a:prstGeom prst="rect">
            <a:avLst/>
          </a:prstGeom>
          <a:solidFill>
            <a:srgbClr val="2D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Total Sandbox Funding Required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069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ECD1B"/>
                </a:solidFill>
                <a:latin typeface="Arial"/>
              </a:defRPr>
            </a:pPr>
            <a:r>
              <a:t>SGD $21,000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6344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Full-Stack + AI Dev: $500/day x 16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6460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Azure Hosting: $150/month x 12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6577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GPT-4.1-mini via Azure OpenAI: $85/month x 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66344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PDPA + Security: $3,200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64608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Pedagogical Consultant: $600/day x 4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065776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Educator Workshops: $2,000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266944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Arial"/>
              </a:defRPr>
            </a:pPr>
            <a:r>
              <a:t>Evaluation + Reporting: $2,600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Cross-Disciplinary Expertise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1234440"/>
            <a:ext cx="640080" cy="640080"/>
          </a:xfrm>
          <a:prstGeom prst="ellipse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Project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063C"/>
                </a:solidFill>
                <a:latin typeface="Arial"/>
              </a:defRPr>
            </a:pPr>
            <a:r>
              <a:t>0.3 FTE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Arial"/>
              </a:defRPr>
            </a:pPr>
            <a:r>
              <a:t>Timeline, budget, stakeholder liaison,</a:t>
            </a:r>
            <a:br/>
            <a:r>
              <a:t>ECDA comms, evaluation &amp;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1234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Technical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48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B82F6"/>
                </a:solidFill>
                <a:latin typeface="Arial"/>
              </a:defRPr>
            </a:pPr>
            <a:r>
              <a:t>1.0 FTE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Arial"/>
              </a:defRPr>
            </a:pPr>
            <a:r>
              <a:t>Full-stack development, AI integration</a:t>
            </a:r>
            <a:br/>
            <a:r>
              <a:t>via Azure OpenAI,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78040" y="1234440"/>
            <a:ext cx="640080" cy="640080"/>
          </a:xfrm>
          <a:prstGeom prst="ellipse">
            <a:avLst/>
          </a:prstGeom>
          <a:solidFill>
            <a:srgbClr val="FEC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A5E"/>
                </a:solidFill>
                <a:latin typeface="Arial"/>
              </a:defRPr>
            </a:pPr>
            <a:r>
              <a:t>Pedagogical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ECD1B"/>
                </a:solidFill>
                <a:latin typeface="Arial"/>
              </a:defRPr>
            </a:pPr>
            <a:r>
              <a:t>0.2 FTE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31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7280"/>
                </a:solidFill>
                <a:latin typeface="Arial"/>
              </a:defRPr>
            </a:pPr>
            <a:r>
              <a:t>EYDF, NEL, QTT, SFw validation,</a:t>
            </a:r>
            <a:br/>
            <a:r>
              <a:t>educator training facilitation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063C"/>
                </a:solidFill>
                <a:latin typeface="Arial"/>
              </a:defRPr>
            </a:pPr>
            <a: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A5E"/>
                </a:solidFill>
                <a:latin typeface="Arial"/>
              </a:defRPr>
            </a:pPr>
            <a:r>
              <a:t>Grounded in Singapore's ECE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ECDA IDP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063C"/>
                </a:solidFill>
                <a:latin typeface="Arial"/>
              </a:defRPr>
            </a:pPr>
            <a:r>
              <a:t>Strategic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Direct alignment with Early Childhood Innovation Sandbox objectives. AI-enabled solution for sector-wide transformation.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188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EYDF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rial"/>
              </a:defRPr>
            </a:pPr>
            <a:r>
              <a:t>Curriculum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Early Years Development Framework. All learning outcomes mapped and tagged in lesson plans and portfolios.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Arial"/>
              </a:defRPr>
            </a:pPr>
            <a:r>
              <a:t>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Nurturing Early Learners. Activity design and assessment indicators aligned to NEL learning areas.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ECDA QTT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ECD1B"/>
                </a:solidFill>
                <a:latin typeface="Arial"/>
              </a:defRPr>
            </a:pPr>
            <a: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11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Quality Teaching Tool. Coaching engine built around QTT rubric domains. Director dashboard tracks QTT scores.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260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SFw for ECCE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611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Skills Framework for Early Childhood. Professional development mapped to TSC codes. WSQ course recommendations.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26080"/>
            <a:ext cx="2560320" cy="164592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017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A5E"/>
                </a:solidFill>
                <a:latin typeface="Arial"/>
              </a:defRPr>
            </a:pPr>
            <a:r>
              <a:t>PDPA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37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063C"/>
                </a:solidFill>
                <a:latin typeface="Arial"/>
              </a:defRPr>
            </a:pPr>
            <a:r>
              <a:t>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Arial"/>
              </a:defRPr>
            </a:pPr>
            <a:r>
              <a:t>Personal Data Protection Act. Zero public AI training. SG data residency. RBAC. Encrypted storage.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PedaForge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B8E0"/>
                </a:solidFill>
                <a:latin typeface="Arial"/>
              </a:defRPr>
            </a:pPr>
            <a:r>
              <a:t>Give educators back the time that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A0D0"/>
                </a:solidFill>
                <a:latin typeface="Arial"/>
              </a:defRPr>
            </a:pPr>
            <a:r>
              <a:t>✓  60% reduction in documentation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88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A0D0"/>
                </a:solidFill>
                <a:latin typeface="Arial"/>
              </a:defRPr>
            </a:pPr>
            <a:r>
              <a:t>✓  AI coaching aligned to ECDA Quality Teaching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A0D0"/>
                </a:solidFill>
                <a:latin typeface="Arial"/>
              </a:defRPr>
            </a:pPr>
            <a:r>
              <a:t>✓  Profile-driven differentiated lesson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8A0D0"/>
                </a:solidFill>
                <a:latin typeface="Arial"/>
              </a:defRPr>
            </a:pPr>
            <a:r>
              <a:t>✓  Real-time director insights for targeted professional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840480"/>
            <a:ext cx="3657600" cy="457200"/>
          </a:xfrm>
          <a:prstGeom prst="rect">
            <a:avLst/>
          </a:prstGeom>
          <a:solidFill>
            <a:srgbClr val="E80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8587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SGD $21,000  |  12 Months  |  IDP 2.0 Aligned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